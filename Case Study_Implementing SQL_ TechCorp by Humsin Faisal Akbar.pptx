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embeddedFontLst>
    <p:embeddedFont>
      <p:font typeface="Caveat" panose="020B0604020202020204" charset="0"/>
      <p:regular r:id="rId12"/>
      <p:bold r:id="rId13"/>
    </p:embeddedFont>
    <p:embeddedFont>
      <p:font typeface="Open Sans" panose="020B0606030504020204" pitchFamily="34" charset="0"/>
      <p:regular r:id="rId14"/>
      <p:bold r:id="rId15"/>
      <p:italic r:id="rId16"/>
      <p:boldItalic r:id="rId17"/>
    </p:embeddedFont>
    <p:embeddedFont>
      <p:font typeface="Roboto" panose="02000000000000000000" pitchFamily="2" charset="0"/>
      <p:regular r:id="rId18"/>
      <p:bold r:id="rId19"/>
      <p:italic r:id="rId20"/>
      <p:boldItalic r:id="rId21"/>
    </p:embeddedFont>
    <p:embeddedFont>
      <p:font typeface="Roboto Black" panose="02000000000000000000" pitchFamily="2" charset="0"/>
      <p:bold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ef5faab1c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g2ef5faab1c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ef5faab1c6_0_59:notes"/>
          <p:cNvSpPr txBox="1">
            <a:spLocks noGrp="1"/>
          </p:cNvSpPr>
          <p:nvPr>
            <p:ph type="body" idx="1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7" name="Google Shape;67;g2ef5faab1c6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778"/>
            <a:ext cx="4572300" cy="3428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f5faab1c6_0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f5faab1c6_0_2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ef5faab1c6_0_5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ef5faab1c6_0_5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ef5faab1c6_0_5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ef5faab1c6_0_5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ef5faab1c6_0_6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ef5faab1c6_0_6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ef5faab1c6_0_6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ef5faab1c6_0_6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ef5faab1c6_0_6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ef5faab1c6_0_6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ef5faab1c6_0_6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ef5faab1c6_0_6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38150" y="1609089"/>
            <a:ext cx="8267700" cy="19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400" b="1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88937" y="1603438"/>
            <a:ext cx="8366100" cy="17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5700" b="1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docs.google.com/document/d/1MYNs-7qkSsU3Wkx9joNt-FNnEJU4d3N6Vc9mCeTSRdk/edit?usp=sharing" TargetMode="Externa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3792125" y="799800"/>
            <a:ext cx="5115900" cy="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id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Case Study - E-Learning</a:t>
            </a:r>
            <a:endParaRPr sz="2300" b="1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3792125" y="1691150"/>
            <a:ext cx="5269500" cy="1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id" sz="45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Implementing SQL: </a:t>
            </a:r>
            <a:endParaRPr sz="450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id" sz="45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TechCorp</a:t>
            </a:r>
            <a:endParaRPr sz="4500" b="0" i="0" u="none" strike="noStrike" cap="none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3792125" y="3812800"/>
            <a:ext cx="5115900" cy="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id" sz="2000" b="1" i="0" u="none" strike="noStrike" cap="non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Owner: </a:t>
            </a:r>
            <a:r>
              <a:rPr lang="en-US" sz="2000" b="1" i="0" u="none" strike="noStrike" cap="non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Humsin</a:t>
            </a:r>
            <a:r>
              <a:rPr lang="en-US" sz="2000" b="1" i="0" u="none" strike="noStrike" cap="non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Faisal Akbar</a:t>
            </a:r>
            <a:endParaRPr sz="2300" b="0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792125" y="4412750"/>
            <a:ext cx="5115900" cy="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d" sz="1400" b="0" i="0" u="none" strike="noStrike" cap="none">
                <a:solidFill>
                  <a:srgbClr val="000000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rPr>
              <a:t>Build your skill and portfolio via myskill.id/bootcamp </a:t>
            </a:r>
            <a:endParaRPr sz="1400" b="0" i="0" u="none" strike="noStrike" cap="none">
              <a:solidFill>
                <a:srgbClr val="000000"/>
              </a:solidFill>
              <a:highlight>
                <a:srgbClr val="FFF2CC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15"/>
          <p:cNvGrpSpPr/>
          <p:nvPr/>
        </p:nvGrpSpPr>
        <p:grpSpPr>
          <a:xfrm>
            <a:off x="3854590" y="4740702"/>
            <a:ext cx="1434817" cy="389011"/>
            <a:chOff x="3248325" y="4588800"/>
            <a:chExt cx="2045939" cy="554700"/>
          </a:xfrm>
        </p:grpSpPr>
        <p:sp>
          <p:nvSpPr>
            <p:cNvPr id="70" name="Google Shape;70;p15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" name="Google Shape;73;p15"/>
          <p:cNvGrpSpPr/>
          <p:nvPr/>
        </p:nvGrpSpPr>
        <p:grpSpPr>
          <a:xfrm>
            <a:off x="8325085" y="65155"/>
            <a:ext cx="763768" cy="752531"/>
            <a:chOff x="695950" y="3458000"/>
            <a:chExt cx="966550" cy="952450"/>
          </a:xfrm>
        </p:grpSpPr>
        <p:sp>
          <p:nvSpPr>
            <p:cNvPr id="74" name="Google Shape;74;p15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" name="Google Shape;83;p15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id" sz="1100" b="1" i="0" u="none" strike="noStrike" cap="non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sz="1100" b="1" i="0" u="none" strike="noStrike" cap="non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84" name="Google Shape;84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/>
          <p:nvPr/>
        </p:nvSpPr>
        <p:spPr>
          <a:xfrm>
            <a:off x="259450" y="174550"/>
            <a:ext cx="8480700" cy="8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2000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Case Study</a:t>
            </a:r>
            <a:endParaRPr sz="2000" b="1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3600" b="1">
                <a:solidFill>
                  <a:srgbClr val="17919B"/>
                </a:solidFill>
                <a:latin typeface="Roboto"/>
                <a:ea typeface="Roboto"/>
                <a:cs typeface="Roboto"/>
                <a:sym typeface="Roboto"/>
              </a:rPr>
              <a:t>Implementing SQL: TechCorp</a:t>
            </a:r>
            <a:endParaRPr sz="36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6" name="Google Shape;8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225" y="1656851"/>
            <a:ext cx="2797700" cy="223906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 txBox="1"/>
          <p:nvPr/>
        </p:nvSpPr>
        <p:spPr>
          <a:xfrm>
            <a:off x="2930925" y="1272800"/>
            <a:ext cx="5717100" cy="3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d" sz="15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TechCorp adalah perusahaan e-commerce yang berfokus pada penjualan produk elektronik seperti laptop, smartphone, dan aksesoris. TechCorp juga menyediakan layanan dukungan pelanggan untuk membantu pelanggan dengan masalah teknis dan pertanyaan mengenai produk yang dijual.  </a:t>
            </a:r>
            <a:endParaRPr sz="15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d" sz="15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Sebagai seorang Data Analyst di Perusahaan ini, kamu ditugaskan untuk menganalisis beberapa data untuk keperluan laporan keuangan dan analisis performa bisnis.</a:t>
            </a:r>
            <a:endParaRPr sz="15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id" sz="1500" b="1" dirty="0">
                <a:latin typeface="Roboto"/>
                <a:ea typeface="Roboto"/>
                <a:cs typeface="Roboto"/>
                <a:sym typeface="Roboto"/>
              </a:rPr>
              <a:t>Data Input for Tables :</a:t>
            </a:r>
            <a:r>
              <a:rPr lang="id" sz="15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id" sz="1500" u="sng" dirty="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Download disini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>
            <a:spLocks noGrp="1"/>
          </p:cNvSpPr>
          <p:nvPr>
            <p:ph type="body" idx="1"/>
          </p:nvPr>
        </p:nvSpPr>
        <p:spPr>
          <a:xfrm>
            <a:off x="212775" y="1201700"/>
            <a:ext cx="8850000" cy="4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id" sz="1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1. Identifikasi 3 pelanggan teratas berdasarkan total nominal pesanan!</a:t>
            </a:r>
            <a:endParaRPr sz="17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93" name="Google Shape;93;p16"/>
          <p:cNvGrpSpPr/>
          <p:nvPr/>
        </p:nvGrpSpPr>
        <p:grpSpPr>
          <a:xfrm>
            <a:off x="3854592" y="4740707"/>
            <a:ext cx="1434817" cy="389011"/>
            <a:chOff x="3248325" y="4588800"/>
            <a:chExt cx="2045939" cy="554700"/>
          </a:xfrm>
        </p:grpSpPr>
        <p:sp>
          <p:nvSpPr>
            <p:cNvPr id="94" name="Google Shape;94;p16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6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6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" name="Google Shape;97;p16"/>
          <p:cNvGrpSpPr/>
          <p:nvPr/>
        </p:nvGrpSpPr>
        <p:grpSpPr>
          <a:xfrm>
            <a:off x="8325086" y="65154"/>
            <a:ext cx="763768" cy="752531"/>
            <a:chOff x="695950" y="3458000"/>
            <a:chExt cx="966550" cy="952450"/>
          </a:xfrm>
        </p:grpSpPr>
        <p:sp>
          <p:nvSpPr>
            <p:cNvPr id="98" name="Google Shape;98;p16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6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6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6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6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6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6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" name="Google Shape;107;p16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id" sz="1100" b="1" i="0" u="none" strike="noStrike" cap="non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sz="1100" b="1" i="0" u="none" strike="noStrike" cap="non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08" name="Google Shape;108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0175" y="4803797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6"/>
          <p:cNvSpPr txBox="1"/>
          <p:nvPr/>
        </p:nvSpPr>
        <p:spPr>
          <a:xfrm>
            <a:off x="259450" y="174550"/>
            <a:ext cx="8480700" cy="8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2000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Case Study</a:t>
            </a:r>
            <a:endParaRPr sz="2000" b="1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3600" b="1">
                <a:solidFill>
                  <a:srgbClr val="17919B"/>
                </a:solidFill>
                <a:latin typeface="Roboto"/>
                <a:ea typeface="Roboto"/>
                <a:cs typeface="Roboto"/>
                <a:sym typeface="Roboto"/>
              </a:rPr>
              <a:t>Implementing SQL: TechCorp</a:t>
            </a:r>
            <a:endParaRPr sz="36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1958475" y="2165225"/>
            <a:ext cx="5358600" cy="2409900"/>
          </a:xfrm>
          <a:prstGeom prst="rect">
            <a:avLst/>
          </a:prstGeom>
          <a:noFill/>
          <a:ln w="28575" cap="flat" cmpd="sng">
            <a:solidFill>
              <a:srgbClr val="B7B7B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6000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6000" b="1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Lampirkan jawaban kamu disini</a:t>
            </a:r>
            <a:endParaRPr b="1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AC301B8-A3A1-4EB6-8A11-E1216AA0ED3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2409"/>
          <a:stretch/>
        </p:blipFill>
        <p:spPr>
          <a:xfrm>
            <a:off x="316754" y="1639449"/>
            <a:ext cx="8589979" cy="31257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212775" y="1201700"/>
            <a:ext cx="8850000" cy="4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id" sz="1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2. Temukan rata-rata nominal pesanan untuk setiap pelanggan!</a:t>
            </a:r>
            <a:endParaRPr sz="17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16" name="Google Shape;116;p17"/>
          <p:cNvGrpSpPr/>
          <p:nvPr/>
        </p:nvGrpSpPr>
        <p:grpSpPr>
          <a:xfrm>
            <a:off x="3854592" y="4740707"/>
            <a:ext cx="1434817" cy="389011"/>
            <a:chOff x="3248325" y="4588800"/>
            <a:chExt cx="2045939" cy="554700"/>
          </a:xfrm>
        </p:grpSpPr>
        <p:sp>
          <p:nvSpPr>
            <p:cNvPr id="117" name="Google Shape;117;p17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7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7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" name="Google Shape;120;p17"/>
          <p:cNvGrpSpPr/>
          <p:nvPr/>
        </p:nvGrpSpPr>
        <p:grpSpPr>
          <a:xfrm>
            <a:off x="8325086" y="65154"/>
            <a:ext cx="763768" cy="752531"/>
            <a:chOff x="695950" y="3458000"/>
            <a:chExt cx="966550" cy="952450"/>
          </a:xfrm>
        </p:grpSpPr>
        <p:sp>
          <p:nvSpPr>
            <p:cNvPr id="121" name="Google Shape;121;p17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7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7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7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17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7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0" name="Google Shape;130;p17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id" sz="1100" b="1" i="0" u="none" strike="noStrike" cap="non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sz="1100" b="1" i="0" u="none" strike="noStrike" cap="non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31" name="Google Shape;13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0175" y="4803797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259450" y="174550"/>
            <a:ext cx="8480700" cy="8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2000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Case Study</a:t>
            </a:r>
            <a:endParaRPr sz="2000" b="1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3600" b="1">
                <a:solidFill>
                  <a:srgbClr val="17919B"/>
                </a:solidFill>
                <a:latin typeface="Roboto"/>
                <a:ea typeface="Roboto"/>
                <a:cs typeface="Roboto"/>
                <a:sym typeface="Roboto"/>
              </a:rPr>
              <a:t>Implementing SQL: TechCorp</a:t>
            </a:r>
            <a:endParaRPr sz="36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1958475" y="2165225"/>
            <a:ext cx="5358600" cy="2409900"/>
          </a:xfrm>
          <a:prstGeom prst="rect">
            <a:avLst/>
          </a:prstGeom>
          <a:noFill/>
          <a:ln w="28575" cap="flat" cmpd="sng">
            <a:solidFill>
              <a:srgbClr val="B7B7B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6000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6000" b="1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Lampirkan jawaban kamu disini</a:t>
            </a:r>
            <a:endParaRPr b="1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745787-1717-4902-8690-CBC1C99220C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9602"/>
          <a:stretch/>
        </p:blipFill>
        <p:spPr>
          <a:xfrm>
            <a:off x="259450" y="1559379"/>
            <a:ext cx="8649950" cy="32444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>
            <a:spLocks noGrp="1"/>
          </p:cNvSpPr>
          <p:nvPr>
            <p:ph type="body" idx="1"/>
          </p:nvPr>
        </p:nvSpPr>
        <p:spPr>
          <a:xfrm>
            <a:off x="212775" y="1201700"/>
            <a:ext cx="8850000" cy="4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id" sz="1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3. Temukan semua karyawan yang telah menyelesaikan lebih dari 4 tiket support!</a:t>
            </a:r>
            <a:endParaRPr sz="17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39" name="Google Shape;139;p18"/>
          <p:cNvGrpSpPr/>
          <p:nvPr/>
        </p:nvGrpSpPr>
        <p:grpSpPr>
          <a:xfrm>
            <a:off x="3854592" y="4740707"/>
            <a:ext cx="1434817" cy="389011"/>
            <a:chOff x="3248325" y="4588800"/>
            <a:chExt cx="2045939" cy="554700"/>
          </a:xfrm>
        </p:grpSpPr>
        <p:sp>
          <p:nvSpPr>
            <p:cNvPr id="140" name="Google Shape;140;p18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18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8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3" name="Google Shape;143;p18"/>
          <p:cNvGrpSpPr/>
          <p:nvPr/>
        </p:nvGrpSpPr>
        <p:grpSpPr>
          <a:xfrm>
            <a:off x="8325086" y="65154"/>
            <a:ext cx="763768" cy="752531"/>
            <a:chOff x="695950" y="3458000"/>
            <a:chExt cx="966550" cy="952450"/>
          </a:xfrm>
        </p:grpSpPr>
        <p:sp>
          <p:nvSpPr>
            <p:cNvPr id="144" name="Google Shape;144;p18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18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18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18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18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18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8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8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8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3" name="Google Shape;153;p18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id" sz="1100" b="1" i="0" u="none" strike="noStrike" cap="non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sz="1100" b="1" i="0" u="none" strike="noStrike" cap="non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54" name="Google Shape;15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0175" y="4803797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259450" y="174550"/>
            <a:ext cx="8480700" cy="8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2000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Case Study</a:t>
            </a:r>
            <a:endParaRPr sz="2000" b="1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3600" b="1">
                <a:solidFill>
                  <a:srgbClr val="17919B"/>
                </a:solidFill>
                <a:latin typeface="Roboto"/>
                <a:ea typeface="Roboto"/>
                <a:cs typeface="Roboto"/>
                <a:sym typeface="Roboto"/>
              </a:rPr>
              <a:t>Implementing SQL: TechCorp</a:t>
            </a:r>
            <a:endParaRPr sz="36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1958475" y="2165225"/>
            <a:ext cx="5358600" cy="2409900"/>
          </a:xfrm>
          <a:prstGeom prst="rect">
            <a:avLst/>
          </a:prstGeom>
          <a:noFill/>
          <a:ln w="28575" cap="flat" cmpd="sng">
            <a:solidFill>
              <a:srgbClr val="B7B7B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6000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6000" b="1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Lampirkan jawaban kamu disini</a:t>
            </a:r>
            <a:endParaRPr b="1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E7F590-D035-40E6-8933-5AF8BC1019A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9602"/>
          <a:stretch/>
        </p:blipFill>
        <p:spPr>
          <a:xfrm>
            <a:off x="259450" y="1536028"/>
            <a:ext cx="8537246" cy="32046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"/>
          <p:cNvSpPr txBox="1">
            <a:spLocks noGrp="1"/>
          </p:cNvSpPr>
          <p:nvPr>
            <p:ph type="body" idx="1"/>
          </p:nvPr>
        </p:nvSpPr>
        <p:spPr>
          <a:xfrm>
            <a:off x="212775" y="1201700"/>
            <a:ext cx="8850000" cy="4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id" sz="1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4. Temukan semua produk yang belum pernah dipesan!</a:t>
            </a:r>
            <a:endParaRPr sz="17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62" name="Google Shape;162;p19"/>
          <p:cNvGrpSpPr/>
          <p:nvPr/>
        </p:nvGrpSpPr>
        <p:grpSpPr>
          <a:xfrm>
            <a:off x="3854592" y="4740707"/>
            <a:ext cx="1434817" cy="389011"/>
            <a:chOff x="3248325" y="4588800"/>
            <a:chExt cx="2045939" cy="554700"/>
          </a:xfrm>
        </p:grpSpPr>
        <p:sp>
          <p:nvSpPr>
            <p:cNvPr id="163" name="Google Shape;163;p19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9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9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6" name="Google Shape;166;p19"/>
          <p:cNvGrpSpPr/>
          <p:nvPr/>
        </p:nvGrpSpPr>
        <p:grpSpPr>
          <a:xfrm>
            <a:off x="8325086" y="65154"/>
            <a:ext cx="763768" cy="752531"/>
            <a:chOff x="695950" y="3458000"/>
            <a:chExt cx="966550" cy="952450"/>
          </a:xfrm>
        </p:grpSpPr>
        <p:sp>
          <p:nvSpPr>
            <p:cNvPr id="167" name="Google Shape;167;p19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9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9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9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9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9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19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9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9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6" name="Google Shape;176;p19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id" sz="1100" b="1" i="0" u="none" strike="noStrike" cap="non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sz="1100" b="1" i="0" u="none" strike="noStrike" cap="non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77" name="Google Shape;17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0175" y="4803797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259450" y="174550"/>
            <a:ext cx="8480700" cy="8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2000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Case Study</a:t>
            </a:r>
            <a:endParaRPr sz="2000" b="1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3600" b="1">
                <a:solidFill>
                  <a:srgbClr val="17919B"/>
                </a:solidFill>
                <a:latin typeface="Roboto"/>
                <a:ea typeface="Roboto"/>
                <a:cs typeface="Roboto"/>
                <a:sym typeface="Roboto"/>
              </a:rPr>
              <a:t>Implementing SQL: TechCorp</a:t>
            </a:r>
            <a:endParaRPr sz="36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1958475" y="2165225"/>
            <a:ext cx="5358600" cy="2409900"/>
          </a:xfrm>
          <a:prstGeom prst="rect">
            <a:avLst/>
          </a:prstGeom>
          <a:noFill/>
          <a:ln w="28575" cap="flat" cmpd="sng">
            <a:solidFill>
              <a:srgbClr val="B7B7B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6000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6000" b="1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Lampirkan jawaban kamu disini</a:t>
            </a:r>
            <a:endParaRPr b="1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A5381E-B243-48D7-988B-B5854356B59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9602"/>
          <a:stretch/>
        </p:blipFill>
        <p:spPr>
          <a:xfrm>
            <a:off x="259449" y="1600672"/>
            <a:ext cx="8709175" cy="31400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"/>
          <p:cNvSpPr txBox="1">
            <a:spLocks noGrp="1"/>
          </p:cNvSpPr>
          <p:nvPr>
            <p:ph type="body" idx="1"/>
          </p:nvPr>
        </p:nvSpPr>
        <p:spPr>
          <a:xfrm>
            <a:off x="212775" y="1201700"/>
            <a:ext cx="8850000" cy="4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id" sz="1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5. Hitung total pendapatan yang dihasilkan dari penjualan produk!</a:t>
            </a:r>
            <a:endParaRPr sz="17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5" name="Google Shape;185;p20"/>
          <p:cNvGrpSpPr/>
          <p:nvPr/>
        </p:nvGrpSpPr>
        <p:grpSpPr>
          <a:xfrm>
            <a:off x="3854592" y="4740707"/>
            <a:ext cx="1434817" cy="389011"/>
            <a:chOff x="3248325" y="4588800"/>
            <a:chExt cx="2045939" cy="554700"/>
          </a:xfrm>
        </p:grpSpPr>
        <p:sp>
          <p:nvSpPr>
            <p:cNvPr id="186" name="Google Shape;186;p20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20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0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9" name="Google Shape;189;p20"/>
          <p:cNvGrpSpPr/>
          <p:nvPr/>
        </p:nvGrpSpPr>
        <p:grpSpPr>
          <a:xfrm>
            <a:off x="8325086" y="65154"/>
            <a:ext cx="763768" cy="752531"/>
            <a:chOff x="695950" y="3458000"/>
            <a:chExt cx="966550" cy="952450"/>
          </a:xfrm>
        </p:grpSpPr>
        <p:sp>
          <p:nvSpPr>
            <p:cNvPr id="190" name="Google Shape;190;p20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20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20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20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20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0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0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20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20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9" name="Google Shape;199;p20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id" sz="1100" b="1" i="0" u="none" strike="noStrike" cap="non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sz="1100" b="1" i="0" u="none" strike="noStrike" cap="non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200" name="Google Shape;20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0175" y="4803797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259450" y="174550"/>
            <a:ext cx="8480700" cy="8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2000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Case Study</a:t>
            </a:r>
            <a:endParaRPr sz="2000" b="1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3600" b="1">
                <a:solidFill>
                  <a:srgbClr val="17919B"/>
                </a:solidFill>
                <a:latin typeface="Roboto"/>
                <a:ea typeface="Roboto"/>
                <a:cs typeface="Roboto"/>
                <a:sym typeface="Roboto"/>
              </a:rPr>
              <a:t>Implementing SQL: TechCorp</a:t>
            </a:r>
            <a:endParaRPr sz="36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1958475" y="2165225"/>
            <a:ext cx="5358600" cy="2409900"/>
          </a:xfrm>
          <a:prstGeom prst="rect">
            <a:avLst/>
          </a:prstGeom>
          <a:noFill/>
          <a:ln w="28575" cap="flat" cmpd="sng">
            <a:solidFill>
              <a:srgbClr val="B7B7B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6000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6000" b="1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Lampirkan jawaban kamu disini</a:t>
            </a:r>
            <a:endParaRPr b="1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50C0D7-59D7-4211-A787-BB1F3CF0E35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9335"/>
          <a:stretch/>
        </p:blipFill>
        <p:spPr>
          <a:xfrm>
            <a:off x="295960" y="1533899"/>
            <a:ext cx="8613440" cy="32508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"/>
          <p:cNvSpPr txBox="1">
            <a:spLocks noGrp="1"/>
          </p:cNvSpPr>
          <p:nvPr>
            <p:ph type="body" idx="1"/>
          </p:nvPr>
        </p:nvSpPr>
        <p:spPr>
          <a:xfrm>
            <a:off x="212775" y="1201700"/>
            <a:ext cx="8850000" cy="4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id" sz="1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6. Temukan harga rata-rata produk untuk setiap kategori dan temukan kategori dengan harga rata-rata lebih dari $500!</a:t>
            </a:r>
            <a:endParaRPr sz="17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08" name="Google Shape;208;p21"/>
          <p:cNvGrpSpPr/>
          <p:nvPr/>
        </p:nvGrpSpPr>
        <p:grpSpPr>
          <a:xfrm>
            <a:off x="3854592" y="4740707"/>
            <a:ext cx="1434817" cy="389011"/>
            <a:chOff x="3248325" y="4588800"/>
            <a:chExt cx="2045939" cy="554700"/>
          </a:xfrm>
        </p:grpSpPr>
        <p:sp>
          <p:nvSpPr>
            <p:cNvPr id="209" name="Google Shape;209;p21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1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1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2" name="Google Shape;212;p21"/>
          <p:cNvGrpSpPr/>
          <p:nvPr/>
        </p:nvGrpSpPr>
        <p:grpSpPr>
          <a:xfrm>
            <a:off x="8325086" y="65154"/>
            <a:ext cx="763768" cy="752531"/>
            <a:chOff x="695950" y="3458000"/>
            <a:chExt cx="966550" cy="952450"/>
          </a:xfrm>
        </p:grpSpPr>
        <p:sp>
          <p:nvSpPr>
            <p:cNvPr id="213" name="Google Shape;213;p21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1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1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1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1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1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21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21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21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2" name="Google Shape;222;p21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id" sz="1100" b="1" i="0" u="none" strike="noStrike" cap="non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sz="1100" b="1" i="0" u="none" strike="noStrike" cap="non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223" name="Google Shape;223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0175" y="4803797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/>
        </p:nvSpPr>
        <p:spPr>
          <a:xfrm>
            <a:off x="259450" y="174550"/>
            <a:ext cx="8480700" cy="8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2000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Case Study</a:t>
            </a:r>
            <a:endParaRPr sz="2000" b="1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3600" b="1">
                <a:solidFill>
                  <a:srgbClr val="17919B"/>
                </a:solidFill>
                <a:latin typeface="Roboto"/>
                <a:ea typeface="Roboto"/>
                <a:cs typeface="Roboto"/>
                <a:sym typeface="Roboto"/>
              </a:rPr>
              <a:t>Implementing SQL: TechCorp</a:t>
            </a:r>
            <a:endParaRPr sz="36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1958475" y="2165225"/>
            <a:ext cx="5358600" cy="2409900"/>
          </a:xfrm>
          <a:prstGeom prst="rect">
            <a:avLst/>
          </a:prstGeom>
          <a:noFill/>
          <a:ln w="28575" cap="flat" cmpd="sng">
            <a:solidFill>
              <a:srgbClr val="B7B7B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6000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6000" b="1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Lampirkan jawaban kamu disini</a:t>
            </a:r>
            <a:endParaRPr b="1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EFC8A4-172F-423A-9F43-F9C01E02EBA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831"/>
          <a:stretch/>
        </p:blipFill>
        <p:spPr>
          <a:xfrm>
            <a:off x="259450" y="1901171"/>
            <a:ext cx="8649950" cy="28395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2"/>
          <p:cNvSpPr txBox="1">
            <a:spLocks noGrp="1"/>
          </p:cNvSpPr>
          <p:nvPr>
            <p:ph type="body" idx="1"/>
          </p:nvPr>
        </p:nvSpPr>
        <p:spPr>
          <a:xfrm>
            <a:off x="212775" y="1201700"/>
            <a:ext cx="8665800" cy="4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id" sz="1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7. Temukan pelanggan yang telah membuat setidaknya satu pesanan dengan total jumlah lebih dari $1000!</a:t>
            </a:r>
            <a:endParaRPr sz="17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31" name="Google Shape;231;p22"/>
          <p:cNvGrpSpPr/>
          <p:nvPr/>
        </p:nvGrpSpPr>
        <p:grpSpPr>
          <a:xfrm>
            <a:off x="3854592" y="4740707"/>
            <a:ext cx="1434817" cy="389011"/>
            <a:chOff x="3248325" y="4588800"/>
            <a:chExt cx="2045939" cy="554700"/>
          </a:xfrm>
        </p:grpSpPr>
        <p:sp>
          <p:nvSpPr>
            <p:cNvPr id="232" name="Google Shape;232;p22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22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22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5" name="Google Shape;235;p22"/>
          <p:cNvGrpSpPr/>
          <p:nvPr/>
        </p:nvGrpSpPr>
        <p:grpSpPr>
          <a:xfrm>
            <a:off x="8325086" y="65154"/>
            <a:ext cx="763768" cy="752531"/>
            <a:chOff x="695950" y="3458000"/>
            <a:chExt cx="966550" cy="952450"/>
          </a:xfrm>
        </p:grpSpPr>
        <p:sp>
          <p:nvSpPr>
            <p:cNvPr id="236" name="Google Shape;236;p22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22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22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22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22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2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22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22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22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5" name="Google Shape;245;p22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id" sz="1100" b="1" i="0" u="none" strike="noStrike" cap="non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sz="1100" b="1" i="0" u="none" strike="noStrike" cap="non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246" name="Google Shape;246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0175" y="4803797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2"/>
          <p:cNvSpPr txBox="1"/>
          <p:nvPr/>
        </p:nvSpPr>
        <p:spPr>
          <a:xfrm>
            <a:off x="259450" y="174550"/>
            <a:ext cx="8480700" cy="8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2000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Case Study</a:t>
            </a:r>
            <a:endParaRPr sz="2000" b="1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3600" b="1">
                <a:solidFill>
                  <a:srgbClr val="17919B"/>
                </a:solidFill>
                <a:latin typeface="Roboto"/>
                <a:ea typeface="Roboto"/>
                <a:cs typeface="Roboto"/>
                <a:sym typeface="Roboto"/>
              </a:rPr>
              <a:t>Implementing SQL: TechCorp</a:t>
            </a:r>
            <a:endParaRPr sz="36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1958475" y="2165225"/>
            <a:ext cx="5358600" cy="2409900"/>
          </a:xfrm>
          <a:prstGeom prst="rect">
            <a:avLst/>
          </a:prstGeom>
          <a:noFill/>
          <a:ln w="28575" cap="flat" cmpd="sng">
            <a:solidFill>
              <a:srgbClr val="B7B7B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6000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6000" b="1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Lampirkan jawaban kamu disini</a:t>
            </a:r>
            <a:endParaRPr b="1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63BC8D-06FC-48C5-8BF5-4BB61DE8CA7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6605"/>
          <a:stretch/>
        </p:blipFill>
        <p:spPr>
          <a:xfrm>
            <a:off x="268373" y="1824850"/>
            <a:ext cx="8700252" cy="29158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284</Words>
  <Application>Microsoft Office PowerPoint</Application>
  <PresentationFormat>On-screen Show (16:9)</PresentationFormat>
  <Paragraphs>53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Open Sans</vt:lpstr>
      <vt:lpstr>Arial</vt:lpstr>
      <vt:lpstr>Roboto Black</vt:lpstr>
      <vt:lpstr>Caveat</vt:lpstr>
      <vt:lpstr>Roboto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user</cp:lastModifiedBy>
  <cp:revision>5</cp:revision>
  <dcterms:modified xsi:type="dcterms:W3CDTF">2026-09-07T17:51:52Z</dcterms:modified>
</cp:coreProperties>
</file>